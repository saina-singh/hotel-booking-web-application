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4"/>
    <p:restoredTop sz="94624"/>
  </p:normalViewPr>
  <p:slideViewPr>
    <p:cSldViewPr snapToGrid="0">
      <p:cViewPr varScale="1">
        <p:scale>
          <a:sx n="117" d="100"/>
          <a:sy n="117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9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6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26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9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42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41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9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6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8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39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61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33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CA412-B5A8-8373-56A7-2BC07C3A1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/>
              <a:t>WEB DEVELOPMENT &amp; DATABASES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A0C6A-A767-0FF7-F3BB-1A2391DDD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2176036"/>
            <a:ext cx="4261104" cy="41218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SubmitTed</a:t>
            </a:r>
            <a:r>
              <a:rPr lang="en-US" dirty="0"/>
              <a:t> by: Saina Singh</a:t>
            </a:r>
          </a:p>
          <a:p>
            <a:pPr>
              <a:lnSpc>
                <a:spcPct val="120000"/>
              </a:lnSpc>
            </a:pPr>
            <a:r>
              <a:rPr lang="en-US" dirty="0"/>
              <a:t>Student ID: </a:t>
            </a:r>
            <a:r>
              <a:rPr lang="en-US" b="0" dirty="0"/>
              <a:t>24071247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Programme</a:t>
            </a:r>
            <a:r>
              <a:rPr lang="en-US" dirty="0"/>
              <a:t>: BSC (HONS) COMPUTER SCIENCE (AI)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 descr="Top view of cubes connected with black lines">
            <a:extLst>
              <a:ext uri="{FF2B5EF4-FFF2-40B4-BE49-F238E27FC236}">
                <a16:creationId xmlns:a16="http://schemas.microsoft.com/office/drawing/2014/main" id="{2412FE10-7176-A90E-71FA-ED1A4199FA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24" r="4322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10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922AB-F9C3-1E0A-18BF-8D1B1F5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NP"/>
              <a:t>NORMALIZATION</a:t>
            </a:r>
            <a:endParaRPr lang="en-NP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55287-3DA2-664A-B42F-D4B9BAA04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r>
              <a:rPr lang="en-US" b="1" dirty="0"/>
              <a:t>Database normalization</a:t>
            </a:r>
            <a:r>
              <a:rPr lang="en-US" dirty="0"/>
              <a:t> is the process of organizing data in a relational database to reduce redundancy, eliminate data anomalies, and improve data integrity by dividing large tables into smaller, well-structured tables and defining relationships between them.</a:t>
            </a:r>
          </a:p>
          <a:p>
            <a:endParaRPr lang="en-NP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F9172E6D-96A4-748D-ECE4-AAFDD5588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0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E2290-E1F9-4DFD-D462-C125593D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Why normalization is important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D4A1DE6-69A8-10F5-83AA-D100069E0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192583"/>
              </p:ext>
            </p:extLst>
          </p:nvPr>
        </p:nvGraphicFramePr>
        <p:xfrm>
          <a:off x="798452" y="2559050"/>
          <a:ext cx="10574183" cy="373887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695080">
                  <a:extLst>
                    <a:ext uri="{9D8B030D-6E8A-4147-A177-3AD203B41FA5}">
                      <a16:colId xmlns:a16="http://schemas.microsoft.com/office/drawing/2014/main" val="2663535538"/>
                    </a:ext>
                  </a:extLst>
                </a:gridCol>
                <a:gridCol w="6879103">
                  <a:extLst>
                    <a:ext uri="{9D8B030D-6E8A-4147-A177-3AD203B41FA5}">
                      <a16:colId xmlns:a16="http://schemas.microsoft.com/office/drawing/2014/main" val="1010059610"/>
                    </a:ext>
                  </a:extLst>
                </a:gridCol>
              </a:tblGrid>
              <a:tr h="620755">
                <a:tc>
                  <a:txBody>
                    <a:bodyPr/>
                    <a:lstStyle/>
                    <a:p>
                      <a:r>
                        <a:rPr lang="en-US" sz="1800" b="0" cap="all" spc="150">
                          <a:solidFill>
                            <a:schemeClr val="lt1"/>
                          </a:solidFill>
                        </a:rPr>
                        <a:t>Reason</a:t>
                      </a:r>
                      <a:endParaRPr lang="en-NP" sz="1800" b="0" cap="all" spc="150">
                        <a:solidFill>
                          <a:schemeClr val="lt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all" spc="150">
                          <a:solidFill>
                            <a:schemeClr val="lt1"/>
                          </a:solidFill>
                        </a:rPr>
                        <a:t>Explanation</a:t>
                      </a:r>
                      <a:endParaRPr lang="en-NP" sz="1800" b="0" cap="all" spc="150">
                        <a:solidFill>
                          <a:schemeClr val="lt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804140"/>
                  </a:ext>
                </a:extLst>
              </a:tr>
              <a:tr h="807179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Reduces redundancy</a:t>
                      </a:r>
                      <a:endParaRPr lang="en-NP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Prevents duplicate data such as city names or hotel details being stored repeatedly</a:t>
                      </a:r>
                      <a:endParaRPr lang="en-NP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753152"/>
                  </a:ext>
                </a:extLst>
              </a:tr>
              <a:tr h="577734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Improves data integrity</a:t>
                      </a:r>
                      <a:endParaRPr lang="en-NP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Ensures updates are consistent across the database</a:t>
                      </a:r>
                      <a:endParaRPr lang="en-NP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184245"/>
                  </a:ext>
                </a:extLst>
              </a:tr>
              <a:tr h="577734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Avoids anomalies</a:t>
                      </a:r>
                      <a:endParaRPr lang="en-NP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Prevents update, insert, and delete anomalies</a:t>
                      </a:r>
                      <a:endParaRPr lang="en-NP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41303"/>
                  </a:ext>
                </a:extLst>
              </a:tr>
              <a:tr h="577734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Improves scalability</a:t>
                      </a:r>
                      <a:endParaRPr lang="en-NP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Makes the database easier to extend and maintain</a:t>
                      </a:r>
                      <a:endParaRPr lang="en-NP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105706"/>
                  </a:ext>
                </a:extLst>
              </a:tr>
              <a:tr h="577734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Supports performance</a:t>
                      </a:r>
                      <a:endParaRPr lang="en-NP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Enables efficient indexing and querying</a:t>
                      </a:r>
                      <a:endParaRPr lang="en-NP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936" marR="156936" marT="156936" marB="1569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417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586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4C1BA-C2AD-7E43-9A65-DDEE173A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/>
              <a:t>Normalization Stages Explained (UNF → 3NF)</a:t>
            </a:r>
            <a:endParaRPr lang="en-NP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49BC64-AA1C-D570-D2C5-FFCA3C711D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776131"/>
              </p:ext>
            </p:extLst>
          </p:nvPr>
        </p:nvGraphicFramePr>
        <p:xfrm>
          <a:off x="1444444" y="2559050"/>
          <a:ext cx="9282200" cy="373887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35789">
                  <a:extLst>
                    <a:ext uri="{9D8B030D-6E8A-4147-A177-3AD203B41FA5}">
                      <a16:colId xmlns:a16="http://schemas.microsoft.com/office/drawing/2014/main" val="1607056825"/>
                    </a:ext>
                  </a:extLst>
                </a:gridCol>
                <a:gridCol w="3232939">
                  <a:extLst>
                    <a:ext uri="{9D8B030D-6E8A-4147-A177-3AD203B41FA5}">
                      <a16:colId xmlns:a16="http://schemas.microsoft.com/office/drawing/2014/main" val="2132946989"/>
                    </a:ext>
                  </a:extLst>
                </a:gridCol>
                <a:gridCol w="3413472">
                  <a:extLst>
                    <a:ext uri="{9D8B030D-6E8A-4147-A177-3AD203B41FA5}">
                      <a16:colId xmlns:a16="http://schemas.microsoft.com/office/drawing/2014/main" val="2764303524"/>
                    </a:ext>
                  </a:extLst>
                </a:gridCol>
              </a:tblGrid>
              <a:tr h="442215">
                <a:tc>
                  <a:txBody>
                    <a:bodyPr/>
                    <a:lstStyle/>
                    <a:p>
                      <a:r>
                        <a:rPr lang="en-US" sz="2000"/>
                        <a:t>Normal Form</a:t>
                      </a:r>
                      <a:endParaRPr lang="en-NP" sz="2000"/>
                    </a:p>
                  </a:txBody>
                  <a:tcPr marL="99987" marR="99987" marT="49994" marB="4999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Key Rule</a:t>
                      </a:r>
                      <a:endParaRPr lang="en-NP" sz="2000"/>
                    </a:p>
                  </a:txBody>
                  <a:tcPr marL="99987" marR="99987" marT="49994" marB="4999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Problem Solved</a:t>
                      </a:r>
                      <a:endParaRPr lang="en-NP" sz="2000"/>
                    </a:p>
                  </a:txBody>
                  <a:tcPr marL="99987" marR="99987" marT="49994" marB="49994"/>
                </a:tc>
                <a:extLst>
                  <a:ext uri="{0D108BD9-81ED-4DB2-BD59-A6C34878D82A}">
                    <a16:rowId xmlns:a16="http://schemas.microsoft.com/office/drawing/2014/main" val="3660230581"/>
                  </a:ext>
                </a:extLst>
              </a:tr>
              <a:tr h="747774">
                <a:tc>
                  <a:txBody>
                    <a:bodyPr/>
                    <a:lstStyle/>
                    <a:p>
                      <a:r>
                        <a:rPr lang="en-US" sz="2000"/>
                        <a:t>UNF (Unnormalised)</a:t>
                      </a:r>
                      <a:endParaRPr lang="en-NP" sz="2000"/>
                    </a:p>
                  </a:txBody>
                  <a:tcPr marL="99987" marR="99987" marT="49994" marB="4999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Repeating groups allowed</a:t>
                      </a:r>
                      <a:endParaRPr lang="en-NP" sz="2000"/>
                    </a:p>
                  </a:txBody>
                  <a:tcPr marL="99987" marR="99987" marT="49994" marB="4999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Data duplication and poor structure</a:t>
                      </a:r>
                      <a:endParaRPr lang="en-NP" sz="2000"/>
                    </a:p>
                  </a:txBody>
                  <a:tcPr marL="99987" marR="99987" marT="49994" marB="49994"/>
                </a:tc>
                <a:extLst>
                  <a:ext uri="{0D108BD9-81ED-4DB2-BD59-A6C34878D82A}">
                    <a16:rowId xmlns:a16="http://schemas.microsoft.com/office/drawing/2014/main" val="3717051982"/>
                  </a:ext>
                </a:extLst>
              </a:tr>
              <a:tr h="747774">
                <a:tc>
                  <a:txBody>
                    <a:bodyPr/>
                    <a:lstStyle/>
                    <a:p>
                      <a:r>
                        <a:rPr lang="en-NP" sz="2000"/>
                        <a:t>1NF</a:t>
                      </a:r>
                    </a:p>
                  </a:txBody>
                  <a:tcPr marL="99987" marR="99987" marT="49994" marB="4999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Atomic values only</a:t>
                      </a:r>
                      <a:endParaRPr lang="en-NP" sz="2000"/>
                    </a:p>
                  </a:txBody>
                  <a:tcPr marL="99987" marR="99987" marT="49994" marB="4999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Removes multi-valued attributes</a:t>
                      </a:r>
                      <a:endParaRPr lang="en-NP" sz="2000"/>
                    </a:p>
                  </a:txBody>
                  <a:tcPr marL="99987" marR="99987" marT="49994" marB="49994"/>
                </a:tc>
                <a:extLst>
                  <a:ext uri="{0D108BD9-81ED-4DB2-BD59-A6C34878D82A}">
                    <a16:rowId xmlns:a16="http://schemas.microsoft.com/office/drawing/2014/main" val="4282529391"/>
                  </a:ext>
                </a:extLst>
              </a:tr>
              <a:tr h="1053333">
                <a:tc>
                  <a:txBody>
                    <a:bodyPr/>
                    <a:lstStyle/>
                    <a:p>
                      <a:r>
                        <a:rPr lang="en-NP" sz="2000"/>
                        <a:t>2NF</a:t>
                      </a:r>
                    </a:p>
                  </a:txBody>
                  <a:tcPr marL="99987" marR="99987" marT="49994" marB="4999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 partial dependency</a:t>
                      </a:r>
                      <a:endParaRPr lang="en-NP" sz="2000"/>
                    </a:p>
                  </a:txBody>
                  <a:tcPr marL="99987" marR="99987" marT="49994" marB="4999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Removes attributes depending on part of a composite key</a:t>
                      </a:r>
                      <a:endParaRPr lang="en-NP" sz="2000"/>
                    </a:p>
                  </a:txBody>
                  <a:tcPr marL="99987" marR="99987" marT="49994" marB="49994"/>
                </a:tc>
                <a:extLst>
                  <a:ext uri="{0D108BD9-81ED-4DB2-BD59-A6C34878D82A}">
                    <a16:rowId xmlns:a16="http://schemas.microsoft.com/office/drawing/2014/main" val="697435797"/>
                  </a:ext>
                </a:extLst>
              </a:tr>
              <a:tr h="747774">
                <a:tc>
                  <a:txBody>
                    <a:bodyPr/>
                    <a:lstStyle/>
                    <a:p>
                      <a:r>
                        <a:rPr lang="en-NP" sz="2000"/>
                        <a:t>3NF</a:t>
                      </a:r>
                    </a:p>
                  </a:txBody>
                  <a:tcPr marL="99987" marR="99987" marT="49994" marB="4999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 transitive dependency</a:t>
                      </a:r>
                      <a:endParaRPr lang="en-NP" sz="2000"/>
                    </a:p>
                  </a:txBody>
                  <a:tcPr marL="99987" marR="99987" marT="49994" marB="4999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Ensures non-key attributes depend only on primary key</a:t>
                      </a:r>
                      <a:endParaRPr lang="en-NP" sz="2000"/>
                    </a:p>
                  </a:txBody>
                  <a:tcPr marL="99987" marR="99987" marT="49994" marB="49994"/>
                </a:tc>
                <a:extLst>
                  <a:ext uri="{0D108BD9-81ED-4DB2-BD59-A6C34878D82A}">
                    <a16:rowId xmlns:a16="http://schemas.microsoft.com/office/drawing/2014/main" val="468474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53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13FE3-91E9-E3F9-F142-5EE742A5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UNF (</a:t>
            </a:r>
            <a:r>
              <a:rPr lang="en-US" dirty="0" err="1"/>
              <a:t>Unnormalised</a:t>
            </a:r>
            <a:r>
              <a:rPr lang="en-US" dirty="0"/>
              <a:t> Form)</a:t>
            </a:r>
            <a:endParaRPr lang="en-NP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817B0-7863-0DC7-1D54-26D527C461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297018"/>
              </p:ext>
            </p:extLst>
          </p:nvPr>
        </p:nvGraphicFramePr>
        <p:xfrm>
          <a:off x="640076" y="2535658"/>
          <a:ext cx="10890932" cy="181590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62706">
                  <a:extLst>
                    <a:ext uri="{9D8B030D-6E8A-4147-A177-3AD203B41FA5}">
                      <a16:colId xmlns:a16="http://schemas.microsoft.com/office/drawing/2014/main" val="1629492403"/>
                    </a:ext>
                  </a:extLst>
                </a:gridCol>
                <a:gridCol w="3527813">
                  <a:extLst>
                    <a:ext uri="{9D8B030D-6E8A-4147-A177-3AD203B41FA5}">
                      <a16:colId xmlns:a16="http://schemas.microsoft.com/office/drawing/2014/main" val="1412973394"/>
                    </a:ext>
                  </a:extLst>
                </a:gridCol>
                <a:gridCol w="1490572">
                  <a:extLst>
                    <a:ext uri="{9D8B030D-6E8A-4147-A177-3AD203B41FA5}">
                      <a16:colId xmlns:a16="http://schemas.microsoft.com/office/drawing/2014/main" val="2237781065"/>
                    </a:ext>
                  </a:extLst>
                </a:gridCol>
                <a:gridCol w="1741585">
                  <a:extLst>
                    <a:ext uri="{9D8B030D-6E8A-4147-A177-3AD203B41FA5}">
                      <a16:colId xmlns:a16="http://schemas.microsoft.com/office/drawing/2014/main" val="1161165832"/>
                    </a:ext>
                  </a:extLst>
                </a:gridCol>
                <a:gridCol w="1868256">
                  <a:extLst>
                    <a:ext uri="{9D8B030D-6E8A-4147-A177-3AD203B41FA5}">
                      <a16:colId xmlns:a16="http://schemas.microsoft.com/office/drawing/2014/main" val="3515365510"/>
                    </a:ext>
                  </a:extLst>
                </a:gridCol>
              </a:tblGrid>
              <a:tr h="826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booking_id</a:t>
                      </a:r>
                      <a:endParaRPr 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22731" marR="193639" marT="193639" marB="193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email</a:t>
                      </a:r>
                      <a:endParaRPr lang="en-NP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22731" marR="193639" marT="193639" marB="1936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hotel_name</a:t>
                      </a:r>
                      <a:endParaRPr lang="en-NP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22731" marR="193639" marT="193639" marB="1936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P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rooms</a:t>
                      </a:r>
                    </a:p>
                  </a:txBody>
                  <a:tcPr marL="322731" marR="193639" marT="193639" marB="1936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P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</a:t>
                      </a:r>
                    </a:p>
                  </a:txBody>
                  <a:tcPr marL="322731" marR="193639" marT="193639" marB="1936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884391"/>
                  </a:ext>
                </a:extLst>
              </a:tr>
              <a:tr h="989710">
                <a:tc>
                  <a:txBody>
                    <a:bodyPr/>
                    <a:lstStyle/>
                    <a:p>
                      <a:r>
                        <a:rPr lang="en-NP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322731" marR="167820" marT="167820" marB="167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P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singhsaina11@gmail.com</a:t>
                      </a:r>
                    </a:p>
                  </a:txBody>
                  <a:tcPr marL="322731" marR="167820" marT="167820" marB="167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P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London</a:t>
                      </a:r>
                    </a:p>
                  </a:txBody>
                  <a:tcPr marL="322731" marR="167820" marT="167820" marB="167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P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Standard, Double</a:t>
                      </a:r>
                    </a:p>
                  </a:txBody>
                  <a:tcPr marL="322731" marR="167820" marT="167820" marB="167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P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WiFi, TV, Breakfast</a:t>
                      </a:r>
                    </a:p>
                  </a:txBody>
                  <a:tcPr marL="322731" marR="167820" marT="167820" marB="167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2779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761A04E-35CC-87FE-321B-442437C30242}"/>
              </a:ext>
            </a:extLst>
          </p:cNvPr>
          <p:cNvSpPr txBox="1"/>
          <p:nvPr/>
        </p:nvSpPr>
        <p:spPr>
          <a:xfrm>
            <a:off x="640080" y="4881489"/>
            <a:ext cx="10740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this is UNF</a:t>
            </a:r>
          </a:p>
          <a:p>
            <a:r>
              <a:rPr lang="en-US" dirty="0"/>
              <a:t>- Multiple values stored in one column</a:t>
            </a:r>
          </a:p>
          <a:p>
            <a:r>
              <a:rPr lang="en-US" dirty="0"/>
              <a:t>- Violates relational database principles</a:t>
            </a:r>
          </a:p>
        </p:txBody>
      </p:sp>
    </p:spTree>
    <p:extLst>
      <p:ext uri="{BB962C8B-B14F-4D97-AF65-F5344CB8AC3E}">
        <p14:creationId xmlns:p14="http://schemas.microsoft.com/office/powerpoint/2010/main" val="416638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D461B-1137-1B99-0F30-CE85EB28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NP" dirty="0"/>
              <a:t>1NF (First Normal Form)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EB73B-84D6-010D-34BC-D21199BE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235"/>
            <a:ext cx="3280279" cy="17558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Rule of 1NF:</a:t>
            </a:r>
          </a:p>
          <a:p>
            <a:r>
              <a:rPr lang="en-US" dirty="0"/>
              <a:t>Each field must contain atomic (single) values and there must be no repeating groups.</a:t>
            </a:r>
          </a:p>
          <a:p>
            <a:endParaRPr lang="en-NP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5C99D1-36EF-B17D-E115-C72EBC50C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825273"/>
              </p:ext>
            </p:extLst>
          </p:nvPr>
        </p:nvGraphicFramePr>
        <p:xfrm>
          <a:off x="4560437" y="2468880"/>
          <a:ext cx="6802034" cy="124683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65065">
                  <a:extLst>
                    <a:ext uri="{9D8B030D-6E8A-4147-A177-3AD203B41FA5}">
                      <a16:colId xmlns:a16="http://schemas.microsoft.com/office/drawing/2014/main" val="3668819647"/>
                    </a:ext>
                  </a:extLst>
                </a:gridCol>
                <a:gridCol w="958271">
                  <a:extLst>
                    <a:ext uri="{9D8B030D-6E8A-4147-A177-3AD203B41FA5}">
                      <a16:colId xmlns:a16="http://schemas.microsoft.com/office/drawing/2014/main" val="1203117093"/>
                    </a:ext>
                  </a:extLst>
                </a:gridCol>
                <a:gridCol w="578385">
                  <a:extLst>
                    <a:ext uri="{9D8B030D-6E8A-4147-A177-3AD203B41FA5}">
                      <a16:colId xmlns:a16="http://schemas.microsoft.com/office/drawing/2014/main" val="3348733810"/>
                    </a:ext>
                  </a:extLst>
                </a:gridCol>
                <a:gridCol w="608410">
                  <a:extLst>
                    <a:ext uri="{9D8B030D-6E8A-4147-A177-3AD203B41FA5}">
                      <a16:colId xmlns:a16="http://schemas.microsoft.com/office/drawing/2014/main" val="17127942"/>
                    </a:ext>
                  </a:extLst>
                </a:gridCol>
                <a:gridCol w="652795">
                  <a:extLst>
                    <a:ext uri="{9D8B030D-6E8A-4147-A177-3AD203B41FA5}">
                      <a16:colId xmlns:a16="http://schemas.microsoft.com/office/drawing/2014/main" val="1676068107"/>
                    </a:ext>
                  </a:extLst>
                </a:gridCol>
                <a:gridCol w="723291">
                  <a:extLst>
                    <a:ext uri="{9D8B030D-6E8A-4147-A177-3AD203B41FA5}">
                      <a16:colId xmlns:a16="http://schemas.microsoft.com/office/drawing/2014/main" val="2007303541"/>
                    </a:ext>
                  </a:extLst>
                </a:gridCol>
                <a:gridCol w="947828">
                  <a:extLst>
                    <a:ext uri="{9D8B030D-6E8A-4147-A177-3AD203B41FA5}">
                      <a16:colId xmlns:a16="http://schemas.microsoft.com/office/drawing/2014/main" val="1018932407"/>
                    </a:ext>
                  </a:extLst>
                </a:gridCol>
                <a:gridCol w="678906">
                  <a:extLst>
                    <a:ext uri="{9D8B030D-6E8A-4147-A177-3AD203B41FA5}">
                      <a16:colId xmlns:a16="http://schemas.microsoft.com/office/drawing/2014/main" val="801133875"/>
                    </a:ext>
                  </a:extLst>
                </a:gridCol>
                <a:gridCol w="889083">
                  <a:extLst>
                    <a:ext uri="{9D8B030D-6E8A-4147-A177-3AD203B41FA5}">
                      <a16:colId xmlns:a16="http://schemas.microsoft.com/office/drawing/2014/main" val="3157536257"/>
                    </a:ext>
                  </a:extLst>
                </a:gridCol>
              </a:tblGrid>
              <a:tr h="5393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cap="none" spc="0">
                          <a:solidFill>
                            <a:srgbClr val="FFFFFF"/>
                          </a:solidFill>
                        </a:rPr>
                        <a:t>booking_id</a:t>
                      </a:r>
                    </a:p>
                  </a:txBody>
                  <a:tcPr marL="49786" marR="29872" marT="29872" marB="29872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cap="none" spc="0" dirty="0" err="1">
                          <a:solidFill>
                            <a:srgbClr val="FFFFFF"/>
                          </a:solidFill>
                        </a:rPr>
                        <a:t>booking_code</a:t>
                      </a:r>
                      <a:endParaRPr lang="en-US" sz="1100" b="1" cap="none" spc="0" dirty="0">
                        <a:solidFill>
                          <a:srgbClr val="FFFFFF"/>
                        </a:solidFill>
                      </a:endParaRPr>
                    </a:p>
                  </a:txBody>
                  <a:tcPr marL="49786" marR="29872" marT="29872" marB="29872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cap="none" spc="0" dirty="0" err="1">
                          <a:solidFill>
                            <a:srgbClr val="FFFFFF"/>
                          </a:solidFill>
                        </a:rPr>
                        <a:t>user_id</a:t>
                      </a:r>
                      <a:endParaRPr lang="en-US" sz="1100" b="1" cap="none" spc="0" dirty="0">
                        <a:solidFill>
                          <a:srgbClr val="FFFFFF"/>
                        </a:solidFill>
                      </a:endParaRPr>
                    </a:p>
                  </a:txBody>
                  <a:tcPr marL="49786" marR="29872" marT="29872" marB="29872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cap="none" spc="0">
                          <a:solidFill>
                            <a:srgbClr val="FFFFFF"/>
                          </a:solidFill>
                        </a:rPr>
                        <a:t>hotel_id</a:t>
                      </a:r>
                    </a:p>
                  </a:txBody>
                  <a:tcPr marL="49786" marR="29872" marT="29872" marB="29872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cap="none" spc="0">
                          <a:solidFill>
                            <a:srgbClr val="FFFFFF"/>
                          </a:solidFill>
                        </a:rPr>
                        <a:t>check_in</a:t>
                      </a:r>
                    </a:p>
                  </a:txBody>
                  <a:tcPr marL="49786" marR="29872" marT="29872" marB="29872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cap="none" spc="0">
                          <a:solidFill>
                            <a:srgbClr val="FFFFFF"/>
                          </a:solidFill>
                        </a:rPr>
                        <a:t>check_out</a:t>
                      </a:r>
                    </a:p>
                  </a:txBody>
                  <a:tcPr marL="49786" marR="29872" marT="29872" marB="29872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cap="none" spc="0" dirty="0" err="1">
                          <a:solidFill>
                            <a:srgbClr val="FFFFFF"/>
                          </a:solidFill>
                        </a:rPr>
                        <a:t>currency_code</a:t>
                      </a:r>
                      <a:endParaRPr lang="en-US" sz="1100" b="1" cap="none" spc="0" dirty="0">
                        <a:solidFill>
                          <a:srgbClr val="FFFFFF"/>
                        </a:solidFill>
                      </a:endParaRPr>
                    </a:p>
                  </a:txBody>
                  <a:tcPr marL="49786" marR="29872" marT="29872" marB="29872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cap="none" spc="0" dirty="0" err="1">
                          <a:solidFill>
                            <a:srgbClr val="FFFFFF"/>
                          </a:solidFill>
                        </a:rPr>
                        <a:t>total_gbp</a:t>
                      </a:r>
                      <a:endParaRPr lang="en-US" sz="1100" b="1" cap="none" spc="0" dirty="0">
                        <a:solidFill>
                          <a:srgbClr val="FFFFFF"/>
                        </a:solidFill>
                      </a:endParaRPr>
                    </a:p>
                  </a:txBody>
                  <a:tcPr marL="49786" marR="29872" marT="29872" marB="29872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cap="none" spc="0">
                          <a:solidFill>
                            <a:srgbClr val="FFFFFF"/>
                          </a:solidFill>
                        </a:rPr>
                        <a:t>booking_status</a:t>
                      </a:r>
                    </a:p>
                  </a:txBody>
                  <a:tcPr marL="49786" marR="29872" marT="29872" marB="29872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56132"/>
                  </a:ext>
                </a:extLst>
              </a:tr>
              <a:tr h="7074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NP" sz="1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49786" marR="29872" marT="29872" marB="29872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WH1234567890</a:t>
                      </a:r>
                    </a:p>
                  </a:txBody>
                  <a:tcPr marL="49786" marR="29872" marT="29872" marB="298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NP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49786" marR="29872" marT="29872" marB="298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NP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49786" marR="29872" marT="29872" marB="298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NP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2026-02-01</a:t>
                      </a:r>
                    </a:p>
                  </a:txBody>
                  <a:tcPr marL="49786" marR="29872" marT="29872" marB="298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NP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2026-02-03</a:t>
                      </a:r>
                    </a:p>
                  </a:txBody>
                  <a:tcPr marL="49786" marR="29872" marT="29872" marB="298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GBP</a:t>
                      </a:r>
                    </a:p>
                  </a:txBody>
                  <a:tcPr marL="49786" marR="29872" marT="29872" marB="298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NP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310.00</a:t>
                      </a:r>
                    </a:p>
                  </a:txBody>
                  <a:tcPr marL="49786" marR="29872" marT="29872" marB="298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CONFIRMED</a:t>
                      </a:r>
                    </a:p>
                  </a:txBody>
                  <a:tcPr marL="49786" marR="29872" marT="29872" marB="298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8269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F7FA5E-8869-EEAD-CA23-F2239046F8AA}"/>
              </a:ext>
            </a:extLst>
          </p:cNvPr>
          <p:cNvSpPr txBox="1"/>
          <p:nvPr/>
        </p:nvSpPr>
        <p:spPr>
          <a:xfrm>
            <a:off x="4560437" y="4124831"/>
            <a:ext cx="5036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Why this is 1NF</a:t>
            </a:r>
          </a:p>
          <a:p>
            <a:r>
              <a:rPr lang="en-US" sz="1600" dirty="0"/>
              <a:t>- Each field contains atomic (indivisible) values</a:t>
            </a:r>
          </a:p>
          <a:p>
            <a:r>
              <a:rPr lang="en-US" sz="1600" dirty="0"/>
              <a:t>- No repeating groups or multi-valued attributes</a:t>
            </a:r>
          </a:p>
          <a:p>
            <a:r>
              <a:rPr lang="en-US" sz="1600" dirty="0"/>
              <a:t>- Each record can be uniquely identified (primary key)</a:t>
            </a:r>
          </a:p>
        </p:txBody>
      </p:sp>
    </p:spTree>
    <p:extLst>
      <p:ext uri="{BB962C8B-B14F-4D97-AF65-F5344CB8AC3E}">
        <p14:creationId xmlns:p14="http://schemas.microsoft.com/office/powerpoint/2010/main" val="388601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87E97-E5F3-B4B5-F2A4-E6F27E52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NP" sz="3400"/>
              <a:t>2NF (Second Normal Form)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BDA7B-8FB4-51C3-8BAE-0F62B6C8C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r>
              <a:rPr lang="en-US" b="1" dirty="0"/>
              <a:t>Rule:</a:t>
            </a:r>
            <a:r>
              <a:rPr lang="en-US" dirty="0"/>
              <a:t> Must be in 1NF and every non-key attribute must depend on the whole primary key (no partial dependency).</a:t>
            </a:r>
          </a:p>
          <a:p>
            <a:endParaRPr lang="en-NP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54D512-16C9-F12A-D8EC-C2BA5A216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284547"/>
              </p:ext>
            </p:extLst>
          </p:nvPr>
        </p:nvGraphicFramePr>
        <p:xfrm>
          <a:off x="6787315" y="2633235"/>
          <a:ext cx="4994782" cy="1172953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{8799B23B-EC83-4686-B30A-512413B5E67A}</a:tableStyleId>
              </a:tblPr>
              <a:tblGrid>
                <a:gridCol w="929590">
                  <a:extLst>
                    <a:ext uri="{9D8B030D-6E8A-4147-A177-3AD203B41FA5}">
                      <a16:colId xmlns:a16="http://schemas.microsoft.com/office/drawing/2014/main" val="2575518659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3017192467"/>
                    </a:ext>
                  </a:extLst>
                </a:gridCol>
                <a:gridCol w="677704">
                  <a:extLst>
                    <a:ext uri="{9D8B030D-6E8A-4147-A177-3AD203B41FA5}">
                      <a16:colId xmlns:a16="http://schemas.microsoft.com/office/drawing/2014/main" val="3308159754"/>
                    </a:ext>
                  </a:extLst>
                </a:gridCol>
                <a:gridCol w="1013576">
                  <a:extLst>
                    <a:ext uri="{9D8B030D-6E8A-4147-A177-3AD203B41FA5}">
                      <a16:colId xmlns:a16="http://schemas.microsoft.com/office/drawing/2014/main" val="116605030"/>
                    </a:ext>
                  </a:extLst>
                </a:gridCol>
                <a:gridCol w="1514376">
                  <a:extLst>
                    <a:ext uri="{9D8B030D-6E8A-4147-A177-3AD203B41FA5}">
                      <a16:colId xmlns:a16="http://schemas.microsoft.com/office/drawing/2014/main" val="592617127"/>
                    </a:ext>
                  </a:extLst>
                </a:gridCol>
              </a:tblGrid>
              <a:tr h="366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cap="none" spc="0" dirty="0" err="1">
                          <a:solidFill>
                            <a:schemeClr val="bg1"/>
                          </a:solidFill>
                        </a:rPr>
                        <a:t>room_type_id</a:t>
                      </a:r>
                      <a:endParaRPr lang="en-US" sz="11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cap="none" spc="0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marL="62485" marR="6323" marT="48066" marB="480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cap="none" spc="0">
                          <a:solidFill>
                            <a:schemeClr val="bg1"/>
                          </a:solidFill>
                        </a:rPr>
                        <a:t>max_guests</a:t>
                      </a:r>
                    </a:p>
                  </a:txBody>
                  <a:tcPr marL="62485" marR="6323" marT="48066" marB="480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cap="none" spc="0">
                          <a:solidFill>
                            <a:schemeClr val="bg1"/>
                          </a:solidFill>
                        </a:rPr>
                        <a:t>base_multiplier</a:t>
                      </a:r>
                    </a:p>
                  </a:txBody>
                  <a:tcPr marL="62485" marR="6323" marT="48066" marB="480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cap="none" spc="0">
                          <a:solidFill>
                            <a:schemeClr val="bg1"/>
                          </a:solidFill>
                        </a:rPr>
                        <a:t>second_guest_multiplier</a:t>
                      </a:r>
                    </a:p>
                  </a:txBody>
                  <a:tcPr marL="62485" marR="6323" marT="48066" marB="480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633640"/>
                  </a:ext>
                </a:extLst>
              </a:tr>
              <a:tr h="374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11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11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1100" cap="none" spc="0" dirty="0">
                          <a:solidFill>
                            <a:schemeClr val="tx1"/>
                          </a:solidFill>
                        </a:rPr>
                        <a:t>1.20</a:t>
                      </a: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1100" cap="none" spc="0">
                          <a:solidFill>
                            <a:schemeClr val="tx1"/>
                          </a:solidFill>
                        </a:rPr>
                        <a:t>0.10</a:t>
                      </a: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169136"/>
                  </a:ext>
                </a:extLst>
              </a:tr>
              <a:tr h="366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11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FAMILY</a:t>
                      </a: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11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1100" cap="none" spc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1100" cap="none" spc="0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 marL="62485" marR="6323" marT="48066" marB="48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0275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4E5D65-5AA1-4E0A-33D1-E9CE01FD0511}"/>
              </a:ext>
            </a:extLst>
          </p:cNvPr>
          <p:cNvSpPr txBox="1"/>
          <p:nvPr/>
        </p:nvSpPr>
        <p:spPr>
          <a:xfrm>
            <a:off x="6787315" y="4330261"/>
            <a:ext cx="47099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Why this is 2NF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No partial dependencies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Clear separation of concerns</a:t>
            </a:r>
          </a:p>
          <a:p>
            <a:r>
              <a:rPr lang="en-US" sz="1600" dirty="0"/>
              <a:t>- Room attributes are not stored in </a:t>
            </a:r>
            <a:r>
              <a:rPr lang="en-US" sz="1600" dirty="0" err="1"/>
              <a:t>booking_rooms</a:t>
            </a:r>
            <a:endParaRPr lang="en-US" sz="1600" dirty="0"/>
          </a:p>
          <a:p>
            <a:r>
              <a:rPr lang="en-US" sz="1600" dirty="0"/>
              <a:t>-</a:t>
            </a:r>
            <a:r>
              <a:rPr lang="en-US" sz="1600" dirty="0" err="1"/>
              <a:t>bookin</a:t>
            </a:r>
            <a:r>
              <a:rPr lang="en-US" sz="1600" dirty="0"/>
              <a:t> </a:t>
            </a:r>
            <a:r>
              <a:rPr lang="en-US" sz="1600" dirty="0" err="1"/>
              <a:t>g_rooms</a:t>
            </a:r>
            <a:r>
              <a:rPr lang="en-US" sz="1600" dirty="0"/>
              <a:t> only stores booking-specific data</a:t>
            </a:r>
          </a:p>
          <a:p>
            <a:r>
              <a:rPr lang="en-US" sz="1600" dirty="0"/>
              <a:t>- Room details depend only on </a:t>
            </a:r>
            <a:r>
              <a:rPr lang="en-US" sz="1600" dirty="0" err="1"/>
              <a:t>room_type_id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36349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96B3C-40DD-441B-2701-2248A0931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3NF (Third Normal Form)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E45AE64-3329-FE5D-8758-50A0B38F66BF}"/>
              </a:ext>
            </a:extLst>
          </p:cNvPr>
          <p:cNvSpPr txBox="1"/>
          <p:nvPr/>
        </p:nvSpPr>
        <p:spPr>
          <a:xfrm>
            <a:off x="640080" y="2633236"/>
            <a:ext cx="5737860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dirty="0"/>
              <a:t>Rule: </a:t>
            </a:r>
            <a:r>
              <a:rPr lang="en-US" dirty="0"/>
              <a:t>Must be in 2NF, No transitive dependency (Non-key attributes must depend only on the primary key, not on other non-key attributes)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8218FE-EECC-7DA9-63DF-905858124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620415"/>
              </p:ext>
            </p:extLst>
          </p:nvPr>
        </p:nvGraphicFramePr>
        <p:xfrm>
          <a:off x="713232" y="4165759"/>
          <a:ext cx="4879165" cy="1584285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927146">
                  <a:extLst>
                    <a:ext uri="{9D8B030D-6E8A-4147-A177-3AD203B41FA5}">
                      <a16:colId xmlns:a16="http://schemas.microsoft.com/office/drawing/2014/main" val="3679544561"/>
                    </a:ext>
                  </a:extLst>
                </a:gridCol>
                <a:gridCol w="1526969">
                  <a:extLst>
                    <a:ext uri="{9D8B030D-6E8A-4147-A177-3AD203B41FA5}">
                      <a16:colId xmlns:a16="http://schemas.microsoft.com/office/drawing/2014/main" val="1949235885"/>
                    </a:ext>
                  </a:extLst>
                </a:gridCol>
                <a:gridCol w="995849">
                  <a:extLst>
                    <a:ext uri="{9D8B030D-6E8A-4147-A177-3AD203B41FA5}">
                      <a16:colId xmlns:a16="http://schemas.microsoft.com/office/drawing/2014/main" val="3238182265"/>
                    </a:ext>
                  </a:extLst>
                </a:gridCol>
                <a:gridCol w="1429201">
                  <a:extLst>
                    <a:ext uri="{9D8B030D-6E8A-4147-A177-3AD203B41FA5}">
                      <a16:colId xmlns:a16="http://schemas.microsoft.com/office/drawing/2014/main" val="2990417686"/>
                    </a:ext>
                  </a:extLst>
                </a:gridCol>
              </a:tblGrid>
              <a:tr h="528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Column</a:t>
                      </a:r>
                    </a:p>
                  </a:txBody>
                  <a:tcPr marL="155923" marR="93554" marT="93554" marB="93554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Type</a:t>
                      </a:r>
                    </a:p>
                  </a:txBody>
                  <a:tcPr marL="155923" marR="93554" marT="93554" marB="9355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Key</a:t>
                      </a:r>
                    </a:p>
                  </a:txBody>
                  <a:tcPr marL="155923" marR="93554" marT="93554" marB="9355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Notes</a:t>
                      </a:r>
                    </a:p>
                  </a:txBody>
                  <a:tcPr marL="155923" marR="93554" marT="93554" marB="9355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510400"/>
                  </a:ext>
                </a:extLst>
              </a:tr>
              <a:tr h="528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city_id</a:t>
                      </a:r>
                    </a:p>
                  </a:txBody>
                  <a:tcPr marL="155923" marR="93554" marT="93554" marB="93554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INT</a:t>
                      </a:r>
                    </a:p>
                  </a:txBody>
                  <a:tcPr marL="155923" marR="93554" marT="93554" marB="9355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PK</a:t>
                      </a:r>
                    </a:p>
                  </a:txBody>
                  <a:tcPr marL="155923" marR="93554" marT="93554" marB="9355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auto increment</a:t>
                      </a:r>
                    </a:p>
                  </a:txBody>
                  <a:tcPr marL="155923" marR="93554" marT="93554" marB="9355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126370"/>
                  </a:ext>
                </a:extLst>
              </a:tr>
              <a:tr h="528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name</a:t>
                      </a:r>
                    </a:p>
                  </a:txBody>
                  <a:tcPr marL="155923" marR="93554" marT="93554" marB="93554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VARCHAR(120)</a:t>
                      </a:r>
                    </a:p>
                  </a:txBody>
                  <a:tcPr marL="155923" marR="93554" marT="93554" marB="9355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UNIQUE</a:t>
                      </a:r>
                    </a:p>
                  </a:txBody>
                  <a:tcPr marL="155923" marR="93554" marT="93554" marB="9355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uq_city_name</a:t>
                      </a:r>
                      <a:endParaRPr lang="en-US" sz="1100" cap="non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55923" marR="93554" marT="93554" marB="9355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79998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78327F-B9F5-11B5-99B4-832DEB37D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188879"/>
              </p:ext>
            </p:extLst>
          </p:nvPr>
        </p:nvGraphicFramePr>
        <p:xfrm>
          <a:off x="6771861" y="2073915"/>
          <a:ext cx="5130993" cy="1828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10331">
                  <a:extLst>
                    <a:ext uri="{9D8B030D-6E8A-4147-A177-3AD203B41FA5}">
                      <a16:colId xmlns:a16="http://schemas.microsoft.com/office/drawing/2014/main" val="1880007851"/>
                    </a:ext>
                  </a:extLst>
                </a:gridCol>
                <a:gridCol w="1710331">
                  <a:extLst>
                    <a:ext uri="{9D8B030D-6E8A-4147-A177-3AD203B41FA5}">
                      <a16:colId xmlns:a16="http://schemas.microsoft.com/office/drawing/2014/main" val="1184057202"/>
                    </a:ext>
                  </a:extLst>
                </a:gridCol>
                <a:gridCol w="1710331">
                  <a:extLst>
                    <a:ext uri="{9D8B030D-6E8A-4147-A177-3AD203B41FA5}">
                      <a16:colId xmlns:a16="http://schemas.microsoft.com/office/drawing/2014/main" val="2001741387"/>
                    </a:ext>
                  </a:extLst>
                </a:gridCol>
              </a:tblGrid>
              <a:tr h="281820">
                <a:tc>
                  <a:txBody>
                    <a:bodyPr/>
                    <a:lstStyle/>
                    <a:p>
                      <a:r>
                        <a:rPr lang="en-NP" sz="1400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400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4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277643"/>
                  </a:ext>
                </a:extLst>
              </a:tr>
              <a:tr h="281820">
                <a:tc>
                  <a:txBody>
                    <a:bodyPr/>
                    <a:lstStyle/>
                    <a:p>
                      <a:r>
                        <a:rPr lang="en-NP" sz="1400" dirty="0"/>
                        <a:t>hotel_id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400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  <a:r>
                        <a:rPr lang="en-NP" sz="1400" dirty="0"/>
                        <a:t>uto increment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372867"/>
                  </a:ext>
                </a:extLst>
              </a:tr>
              <a:tr h="281820">
                <a:tc>
                  <a:txBody>
                    <a:bodyPr/>
                    <a:lstStyle/>
                    <a:p>
                      <a:r>
                        <a:rPr lang="en-NP" sz="1400" dirty="0"/>
                        <a:t>city_id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400" dirty="0"/>
                        <a:t>FK -&gt; cities.city_id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</a:t>
                      </a:r>
                      <a:r>
                        <a:rPr lang="en-NP" sz="1400" dirty="0"/>
                        <a:t>inkes to cities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978455"/>
                  </a:ext>
                </a:extLst>
              </a:tr>
              <a:tr h="281820">
                <a:tc>
                  <a:txBody>
                    <a:bodyPr/>
                    <a:lstStyle/>
                    <a:p>
                      <a:r>
                        <a:rPr lang="en-NP" sz="1400" dirty="0"/>
                        <a:t>hotel_name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P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400" dirty="0"/>
                        <a:t>WH London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390551"/>
                  </a:ext>
                </a:extLst>
              </a:tr>
              <a:tr h="281820">
                <a:tc>
                  <a:txBody>
                    <a:bodyPr/>
                    <a:lstStyle/>
                    <a:p>
                      <a:r>
                        <a:rPr lang="en-NP" sz="1400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P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400" dirty="0"/>
                        <a:t>optional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414794"/>
                  </a:ext>
                </a:extLst>
              </a:tr>
              <a:tr h="281820">
                <a:tc>
                  <a:txBody>
                    <a:bodyPr/>
                    <a:lstStyle/>
                    <a:p>
                      <a:r>
                        <a:rPr lang="en-NP" sz="1400" dirty="0"/>
                        <a:t>is_active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P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4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0056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19100A1-B21D-3A47-22D6-BBC2D259506B}"/>
              </a:ext>
            </a:extLst>
          </p:cNvPr>
          <p:cNvSpPr txBox="1"/>
          <p:nvPr/>
        </p:nvSpPr>
        <p:spPr>
          <a:xfrm>
            <a:off x="6771861" y="4280452"/>
            <a:ext cx="49430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1400" dirty="0"/>
              <a:t>Why is it 3NF</a:t>
            </a:r>
          </a:p>
          <a:p>
            <a:pPr marL="285750" indent="-285750">
              <a:buFontTx/>
              <a:buChar char="-"/>
            </a:pPr>
            <a:r>
              <a:rPr lang="en-NP" sz="1400" dirty="0"/>
              <a:t>There are no transitive dependencies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All non-key attributes depend only on the primary key of their table.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City information such as </a:t>
            </a:r>
            <a:r>
              <a:rPr lang="en-US" sz="1400" dirty="0" err="1"/>
              <a:t>city_name</a:t>
            </a:r>
            <a:r>
              <a:rPr lang="en-US" sz="1400" dirty="0"/>
              <a:t> is stored only in the cities table, not in hotels.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In the hotels table, </a:t>
            </a:r>
            <a:r>
              <a:rPr lang="en-US" sz="1400" dirty="0" err="1"/>
              <a:t>hotel_name</a:t>
            </a:r>
            <a:r>
              <a:rPr lang="en-US" sz="1400" dirty="0"/>
              <a:t>, address, and </a:t>
            </a:r>
            <a:r>
              <a:rPr lang="en-US" sz="1400" dirty="0" err="1"/>
              <a:t>is_active</a:t>
            </a:r>
            <a:r>
              <a:rPr lang="en-US" sz="1400" dirty="0"/>
              <a:t> depend only on </a:t>
            </a:r>
            <a:r>
              <a:rPr lang="en-US" sz="1400" dirty="0" err="1"/>
              <a:t>hotel_id</a:t>
            </a:r>
            <a:endParaRPr lang="en-NP" sz="1400" dirty="0"/>
          </a:p>
        </p:txBody>
      </p:sp>
    </p:spTree>
    <p:extLst>
      <p:ext uri="{BB962C8B-B14F-4D97-AF65-F5344CB8AC3E}">
        <p14:creationId xmlns:p14="http://schemas.microsoft.com/office/powerpoint/2010/main" val="127931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B749B-B7FF-C73C-8C0E-14E39750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THANK YOU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2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569</Words>
  <Application>Microsoft Macintosh PowerPoint</Application>
  <PresentationFormat>Widescreen</PresentationFormat>
  <Paragraphs>132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Grandview Display</vt:lpstr>
      <vt:lpstr>DashVTI</vt:lpstr>
      <vt:lpstr>WEB DEVELOPMENT &amp; DATABASES</vt:lpstr>
      <vt:lpstr>NORMALIZATION</vt:lpstr>
      <vt:lpstr>Why normalization is important</vt:lpstr>
      <vt:lpstr>Normalization Stages Explained (UNF → 3NF)</vt:lpstr>
      <vt:lpstr>UNF (Unnormalised Form)</vt:lpstr>
      <vt:lpstr>1NF (First Normal Form)</vt:lpstr>
      <vt:lpstr>2NF (Second Normal Form)</vt:lpstr>
      <vt:lpstr>3NF (Third Normal Form)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Saina Singh (Student)</dc:creator>
  <cp:lastModifiedBy>Saina Singh (Student)</cp:lastModifiedBy>
  <cp:revision>11</cp:revision>
  <dcterms:created xsi:type="dcterms:W3CDTF">2026-01-22T10:34:05Z</dcterms:created>
  <dcterms:modified xsi:type="dcterms:W3CDTF">2026-01-22T14:32:39Z</dcterms:modified>
</cp:coreProperties>
</file>